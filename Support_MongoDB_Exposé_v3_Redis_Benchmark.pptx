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3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05156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tos"/>
              </a:rPr>
              <a:t>MongoDB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659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0">
                <a:solidFill>
                  <a:srgbClr val="D2E0D8"/>
                </a:solidFill>
                <a:latin typeface="Aptos"/>
              </a:rPr>
              <a:t>Comprendre, utiliser et situer une base de données NoSQL orientée documents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4924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0B4A8"/>
                </a:solidFill>
                <a:latin typeface="Aptos"/>
              </a:rPr>
              <a:t>Support d’exposé • 2026</a:t>
            </a:r>
          </a:p>
        </p:txBody>
      </p:sp>
      <p:sp>
        <p:nvSpPr>
          <p:cNvPr id="5" name="Oval 4"/>
          <p:cNvSpPr/>
          <p:nvPr/>
        </p:nvSpPr>
        <p:spPr>
          <a:xfrm>
            <a:off x="9052560" y="4389120"/>
            <a:ext cx="502920" cy="502920"/>
          </a:xfrm>
          <a:prstGeom prst="ellipse">
            <a:avLst/>
          </a:prstGeom>
          <a:solidFill>
            <a:srgbClr val="479E60"/>
          </a:solidFill>
          <a:ln>
            <a:solidFill>
              <a:srgbClr val="479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55480" y="4114800"/>
            <a:ext cx="502920" cy="502920"/>
          </a:xfrm>
          <a:prstGeom prst="ellipse">
            <a:avLst/>
          </a:prstGeom>
          <a:solidFill>
            <a:srgbClr val="479E60"/>
          </a:solidFill>
          <a:ln>
            <a:solidFill>
              <a:srgbClr val="479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0" y="4389120"/>
            <a:ext cx="502920" cy="502920"/>
          </a:xfrm>
          <a:prstGeom prst="ellipse">
            <a:avLst/>
          </a:prstGeom>
          <a:solidFill>
            <a:srgbClr val="479E60"/>
          </a:solidFill>
          <a:ln>
            <a:solidFill>
              <a:srgbClr val="479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5074920"/>
            <a:ext cx="3383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AC8B4"/>
                </a:solidFill>
                <a:latin typeface="Aptos"/>
              </a:rPr>
              <a:t>DOCUMENTS  •  REQUÊTES  •  INDEX  •  DISTRIBUTION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32D"/>
                </a:solidFill>
                <a:latin typeface="Aptos"/>
              </a:rPr>
              <a:t>Objectifs de l’exposé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6874"/>
                </a:solidFill>
                <a:latin typeface="Aptos"/>
              </a:rPr>
              <a:t>À la fin, comprendre le modèle mental avant de mémoriser les commandes.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700784"/>
            <a:ext cx="3108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79E60"/>
                </a:solidFill>
                <a:latin typeface="Aptos"/>
              </a:rPr>
              <a:t>01 — Comprendre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121408"/>
            <a:ext cx="31089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232D"/>
                </a:solidFill>
                <a:latin typeface="Aptos"/>
              </a:rPr>
              <a:t>Qu’est-ce que MongoDB ? Pourquoi NoSQL ? Comment sont organisées les données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55448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1700784"/>
            <a:ext cx="3108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170AA"/>
                </a:solidFill>
                <a:latin typeface="Aptos"/>
              </a:rPr>
              <a:t>02 — Manipuler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3712" y="2121408"/>
            <a:ext cx="31089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232D"/>
                </a:solidFill>
                <a:latin typeface="Aptos"/>
              </a:rPr>
              <a:t>Insérer, lire, modifier, supprimer, indexer et agréger des documents.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1583" y="155448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84463" y="1700784"/>
            <a:ext cx="3108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08B34"/>
                </a:solidFill>
                <a:latin typeface="Aptos"/>
              </a:rPr>
              <a:t>03 — Évaluer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4463" y="2121408"/>
            <a:ext cx="31089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232D"/>
                </a:solidFill>
                <a:latin typeface="Aptos"/>
              </a:rPr>
              <a:t>Performance, scalabilité, disponibilité, limites et comparaison avec SQL.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06908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19232D"/>
                </a:solidFill>
                <a:latin typeface="Aptos"/>
              </a:rPr>
              <a:t>Fil conducteur : une petite application e-commerce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800600"/>
            <a:ext cx="9235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23693C"/>
                </a:solidFill>
                <a:latin typeface="Aptos"/>
              </a:rPr>
              <a:t>Users  →  Products  →  Orders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C6874"/>
                </a:solidFill>
                <a:latin typeface="Aptos"/>
              </a:rPr>
              <a:t>MongoDB — support d'exposé  •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32D"/>
                </a:solidFill>
                <a:latin typeface="Aptos"/>
              </a:rPr>
              <a:t>1. MongoDB, c’est quoi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07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232D"/>
                </a:solidFill>
                <a:latin typeface="Aptos"/>
              </a:defRPr>
            </a:pPr>
            <a:r>
              <a:t>• MongoDB est un système de gestion de base de données orienté documents.</a:t>
            </a:r>
          </a:p>
          <a:p>
            <a:pPr>
              <a:spcAft>
                <a:spcPts val="700"/>
              </a:spcAft>
              <a:defRPr sz="2000">
                <a:solidFill>
                  <a:srgbClr val="19232D"/>
                </a:solidFill>
                <a:latin typeface="Aptos"/>
              </a:defRPr>
            </a:pPr>
            <a:r>
              <a:t>• Les données sont stockées sous forme de documents BSON, proches du JSON.</a:t>
            </a:r>
          </a:p>
          <a:p>
            <a:pPr>
              <a:spcAft>
                <a:spcPts val="700"/>
              </a:spcAft>
              <a:defRPr sz="2000">
                <a:solidFill>
                  <a:srgbClr val="19232D"/>
                </a:solidFill>
                <a:latin typeface="Aptos"/>
              </a:defRPr>
            </a:pPr>
            <a:r>
              <a:t>• Les documents sont regroupés dans des collections.</a:t>
            </a:r>
          </a:p>
          <a:p>
            <a:pPr>
              <a:spcAft>
                <a:spcPts val="700"/>
              </a:spcAft>
              <a:defRPr sz="2000">
                <a:solidFill>
                  <a:srgbClr val="19232D"/>
                </a:solidFill>
                <a:latin typeface="Aptos"/>
              </a:defRPr>
            </a:pPr>
            <a:r>
              <a:t>• Le modèle est flexible : la structure peut évoluer sans imposer un schéma relationnel classique.</a:t>
            </a:r>
          </a:p>
          <a:p>
            <a:pPr>
              <a:spcAft>
                <a:spcPts val="700"/>
              </a:spcAft>
              <a:defRPr sz="2000">
                <a:solidFill>
                  <a:srgbClr val="19232D"/>
                </a:solidFill>
                <a:latin typeface="Aptos"/>
              </a:defRPr>
            </a:pPr>
            <a:r>
              <a:t>• MongoDB peut être utilisé localement ou comme service cloud avec MongoDB Atlas.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5257800"/>
            <a:ext cx="8503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5404104"/>
            <a:ext cx="81381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79E60"/>
                </a:solidFill>
                <a:latin typeface="Aptos"/>
              </a:rPr>
              <a:t>À retenir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5824728"/>
            <a:ext cx="813816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232D"/>
                </a:solidFill>
                <a:latin typeface="Aptos"/>
              </a:rPr>
              <a:t>MongoDB n’est pas « SQL mais en JSON » : le modèle de données et les stratégies de modélisation sont différents.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C6874"/>
                </a:solidFill>
                <a:latin typeface="Aptos"/>
              </a:rPr>
              <a:t>MongoDB — support d'exposé  •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32D"/>
                </a:solidFill>
                <a:latin typeface="Aptos"/>
              </a:rPr>
              <a:t>2. Le vocabulaire fondamental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08760"/>
            <a:ext cx="24688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55063"/>
            <a:ext cx="21031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79E60"/>
                </a:solidFill>
                <a:latin typeface="Aptos"/>
              </a:rPr>
              <a:t>Database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75688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232D"/>
                </a:solidFill>
                <a:latin typeface="Aptos"/>
              </a:rPr>
              <a:t>contient des collections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11880" y="1508760"/>
            <a:ext cx="24688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94760" y="1655063"/>
            <a:ext cx="21031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170AA"/>
                </a:solidFill>
                <a:latin typeface="Aptos"/>
              </a:rPr>
              <a:t>Collection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2075688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232D"/>
                </a:solidFill>
                <a:latin typeface="Aptos"/>
              </a:rPr>
              <a:t>regroupe des documents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508760"/>
            <a:ext cx="24688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655063"/>
            <a:ext cx="21031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08B34"/>
                </a:solidFill>
                <a:latin typeface="Aptos"/>
              </a:rPr>
              <a:t>Document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075688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232D"/>
                </a:solidFill>
                <a:latin typeface="Aptos"/>
              </a:rPr>
              <a:t>un enregistrement BSON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72600" y="1508760"/>
            <a:ext cx="20116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55480" y="1655063"/>
            <a:ext cx="1645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3693C"/>
                </a:solidFill>
                <a:latin typeface="Aptos"/>
              </a:rPr>
              <a:t>Field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55480" y="2075688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232D"/>
                </a:solidFill>
                <a:latin typeface="Aptos"/>
              </a:rPr>
              <a:t>une propriété / valeur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00400" y="2011680"/>
            <a:ext cx="411480" cy="0"/>
          </a:xfrm>
          <a:prstGeom prst="line">
            <a:avLst/>
          </a:prstGeom>
          <a:ln w="25400">
            <a:solidFill>
              <a:srgbClr val="5C6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080760" y="2011680"/>
            <a:ext cx="411480" cy="0"/>
          </a:xfrm>
          <a:prstGeom prst="line">
            <a:avLst/>
          </a:prstGeom>
          <a:ln w="25400">
            <a:solidFill>
              <a:srgbClr val="5C6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961120" y="2011680"/>
            <a:ext cx="411480" cy="0"/>
          </a:xfrm>
          <a:prstGeom prst="line">
            <a:avLst/>
          </a:prstGeom>
          <a:ln w="25400">
            <a:solidFill>
              <a:srgbClr val="5C6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971800" y="3063240"/>
            <a:ext cx="6309360" cy="2423160"/>
          </a:xfrm>
          <a:prstGeom prst="roundRect">
            <a:avLst/>
          </a:prstGeom>
          <a:solidFill>
            <a:srgbClr val="1C232A"/>
          </a:solidFill>
          <a:ln>
            <a:solidFill>
              <a:srgbClr val="1C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36392" y="3191256"/>
            <a:ext cx="5980176" cy="21671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E8F2EB"/>
                </a:solidFill>
                <a:latin typeface="Courier New"/>
              </a:rPr>
              <a:t>{
  "_id": ObjectId("..."),
  "name": "Alice",
  "age": 25,
  "address": { "city": "Paris" }
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669280"/>
            <a:ext cx="9966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C6874"/>
                </a:solidFill>
                <a:latin typeface="Aptos"/>
              </a:rPr>
              <a:t>BSON = représentation binaire de documents avec des types supplémentaires par rapport au JSON.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C6874"/>
                </a:solidFill>
                <a:latin typeface="Aptos"/>
              </a:rPr>
              <a:t>MongoDB — support d'exposé  •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32D"/>
                </a:solidFill>
                <a:latin typeface="Aptos"/>
              </a:rPr>
              <a:t>3. MongoDB vs modèle relationnel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6874"/>
                </a:solidFill>
                <a:latin typeface="Aptos"/>
              </a:rPr>
              <a:t>La différence essentielle est la manière de représenter les données.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525780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63624"/>
            <a:ext cx="4892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170AA"/>
                </a:solidFill>
                <a:latin typeface="Aptos"/>
              </a:rPr>
              <a:t>SQL / relationnel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84248"/>
            <a:ext cx="4892040" cy="2606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232D"/>
                </a:solidFill>
                <a:latin typeface="Aptos"/>
              </a:rPr>
              <a:t>Tables → lignes → colonnes
Relations explicites
JOIN très présent
Schéma généralement défini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17320"/>
            <a:ext cx="525780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563624"/>
            <a:ext cx="4892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79E60"/>
                </a:solidFill>
                <a:latin typeface="Aptos"/>
              </a:rPr>
              <a:t>MongoDB / documents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984248"/>
            <a:ext cx="4892040" cy="2606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232D"/>
                </a:solidFill>
                <a:latin typeface="Aptos"/>
              </a:rPr>
              <a:t>Collections → documents → champs
Documents pouvant contenir des sous-documents et tableaux
Modélisation guidée par les accès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51663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9232D"/>
                </a:solidFill>
                <a:latin typeface="Aptos"/>
              </a:rPr>
              <a:t>Exemple : une commande peut contenir directement sa liste de produits.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C6874"/>
                </a:solidFill>
                <a:latin typeface="Aptos"/>
              </a:rPr>
              <a:t>MongoDB — support d'exposé  •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32D"/>
                </a:solidFill>
                <a:latin typeface="Aptos"/>
              </a:rPr>
              <a:t>4. Premier contact : CRUD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6874"/>
                </a:solidFill>
                <a:latin typeface="Aptos"/>
              </a:rPr>
              <a:t>Create • Read • Update • Delete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325880"/>
            <a:ext cx="6858000" cy="4526280"/>
          </a:xfrm>
          <a:prstGeom prst="roundRect">
            <a:avLst/>
          </a:prstGeom>
          <a:solidFill>
            <a:srgbClr val="1C232A"/>
          </a:solidFill>
          <a:ln>
            <a:solidFill>
              <a:srgbClr val="1C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1453895"/>
            <a:ext cx="6528816" cy="4270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8F2EB"/>
                </a:solidFill>
                <a:latin typeface="Courier New"/>
              </a:rPr>
              <a:t>// CREATE
 db.users.insertOne({ name: "Alice", age: 25 })
// READ
 db.users.find({ age: { $gte: 18 } })
// UPDATE
 db.users.updateOne({ name: "Alice" }, { $set: { age: 26 } })
// DELETE
 db.users.deleteOne({ name: "Alice" })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508760"/>
            <a:ext cx="34290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59" y="1655063"/>
            <a:ext cx="3063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79E60"/>
                </a:solidFill>
                <a:latin typeface="Aptos"/>
              </a:rPr>
              <a:t>Idée clé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59" y="2075688"/>
            <a:ext cx="306324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232D"/>
                </a:solidFill>
                <a:latin typeface="Aptos"/>
              </a:rPr>
              <a:t>Les opérations s’effectuent sur des documents. Les requêtes utilisent une syntaxe JSON-like.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3657600"/>
            <a:ext cx="3429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59" y="3803904"/>
            <a:ext cx="3063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170AA"/>
                </a:solidFill>
                <a:latin typeface="Aptos"/>
              </a:rPr>
              <a:t>À pratiquer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59" y="4224528"/>
            <a:ext cx="3063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232D"/>
                </a:solidFill>
                <a:latin typeface="Aptos"/>
              </a:rPr>
              <a:t>Refaire ces 4 opérations dans mongosh, Compass ou Atlas.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C6874"/>
                </a:solidFill>
                <a:latin typeface="Aptos"/>
              </a:rPr>
              <a:t>MongoDB — support d'exposé  •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32D"/>
                </a:solidFill>
                <a:latin typeface="Aptos"/>
              </a:rPr>
              <a:t>5. Modéliser : embarquer ou référencer 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417320"/>
            <a:ext cx="525780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563624"/>
            <a:ext cx="4892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79E60"/>
                </a:solidFill>
                <a:latin typeface="Aptos"/>
              </a:rPr>
              <a:t>Embedded document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84248"/>
            <a:ext cx="48920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232D"/>
                </a:solidFill>
                <a:latin typeface="Aptos"/>
              </a:rPr>
              <a:t>Placer les données liées dans le même document.
+ Lecture d’un ensemble de données en une fois
− Document potentiellement volumineux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417320"/>
            <a:ext cx="525780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563624"/>
            <a:ext cx="4892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170AA"/>
                </a:solidFill>
                <a:latin typeface="Aptos"/>
              </a:rPr>
              <a:t>Reference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984248"/>
            <a:ext cx="48920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232D"/>
                </a:solidFill>
                <a:latin typeface="Aptos"/>
              </a:rPr>
              <a:t>Stocker un identifiant vers un autre document.
+ Données partagées / indépendantes
− Nécessite davantage d’opérations ou de jointures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19232D"/>
                </a:solidFill>
                <a:latin typeface="Aptos"/>
              </a:rPr>
              <a:t>Question à poser : « Comment l’application va-t-elle lire et modifier ces données ? 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C6874"/>
                </a:solidFill>
                <a:latin typeface="Aptos"/>
              </a:rPr>
              <a:t>MongoDB — support d'exposé  •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32D"/>
                </a:solidFill>
                <a:latin typeface="Aptos"/>
              </a:rPr>
              <a:t>6. Les index : le levier majeur des requêtes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6874"/>
                </a:solidFill>
                <a:latin typeface="Aptos"/>
              </a:rPr>
              <a:t>Un index peut éviter de parcourir inutilement une collection.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E08B34"/>
                </a:solidFill>
                <a:latin typeface="Aptos"/>
              </a:rPr>
              <a:t>Sans index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20240"/>
            <a:ext cx="3840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19232D"/>
                </a:solidFill>
                <a:latin typeface="Aptos"/>
              </a:rPr>
              <a:t>Collection :  • • • • • • • • • 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14600"/>
            <a:ext cx="4206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C6874"/>
                </a:solidFill>
                <a:latin typeface="Aptos"/>
              </a:rPr>
              <a:t>→ recherche potentiellement coûteuse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0840" y="14173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479E60"/>
                </a:solidFill>
                <a:latin typeface="Aptos"/>
              </a:rPr>
              <a:t>Avec index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92024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19232D"/>
                </a:solidFill>
                <a:latin typeface="Aptos"/>
              </a:rPr>
              <a:t>Index :   18 → 42 → 57 → 91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514600"/>
            <a:ext cx="4480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C6874"/>
                </a:solidFill>
                <a:latin typeface="Aptos"/>
              </a:rPr>
              <a:t>→ accès plus ciblé selon la requête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800" y="3657600"/>
            <a:ext cx="6217920" cy="914400"/>
          </a:xfrm>
          <a:prstGeom prst="roundRect">
            <a:avLst/>
          </a:prstGeom>
          <a:solidFill>
            <a:srgbClr val="1C232A"/>
          </a:solidFill>
          <a:ln>
            <a:solidFill>
              <a:srgbClr val="1C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36392" y="3785615"/>
            <a:ext cx="5888736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E8F2EB"/>
                </a:solidFill>
                <a:latin typeface="Courier New"/>
              </a:rPr>
              <a:t>db.users.createIndex({ email: 1 })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983480"/>
            <a:ext cx="10058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19232D"/>
                </a:solidFill>
                <a:latin typeface="Aptos"/>
              </a:rPr>
              <a:t>Attention : les index consomment de l’espace et peuvent augmenter le coût des écritures. Ils doivent correspondre aux requêtes réelles.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C6874"/>
                </a:solidFill>
                <a:latin typeface="Aptos"/>
              </a:rPr>
              <a:t>MongoDB — support d'exposé  •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32D"/>
                </a:solidFill>
                <a:latin typeface="Aptos"/>
              </a:rPr>
              <a:t>7. Aggregation : analyser les données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6874"/>
                </a:solidFill>
                <a:latin typeface="Aptos"/>
              </a:rPr>
              <a:t>Une pipeline enchaîne des étapes de transformation et d’analyse.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6766560" cy="4343400"/>
          </a:xfrm>
          <a:prstGeom prst="roundRect">
            <a:avLst/>
          </a:prstGeom>
          <a:solidFill>
            <a:srgbClr val="1C232A"/>
          </a:solidFill>
          <a:ln>
            <a:solidFill>
              <a:srgbClr val="1C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1545336"/>
            <a:ext cx="6437376" cy="4087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8F2EB"/>
                </a:solidFill>
                <a:latin typeface="Courier New"/>
              </a:rPr>
              <a:t>db.orders.aggregate([
  { $match: { status: "paid" } },
  { $group: {
      _id: "$userId",
      total: { $sum: "$amount" }
  } },
  { $sort: { total: -1 } }
])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417320"/>
            <a:ext cx="32918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59" y="1563624"/>
            <a:ext cx="2926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170AA"/>
                </a:solidFill>
                <a:latin typeface="Aptos"/>
              </a:rPr>
              <a:t>$match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59" y="1984248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232D"/>
                </a:solidFill>
                <a:latin typeface="Aptos"/>
              </a:rPr>
              <a:t>filtre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2651760"/>
            <a:ext cx="32918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59" y="2798064"/>
            <a:ext cx="2926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79E60"/>
                </a:solidFill>
                <a:latin typeface="Aptos"/>
              </a:rPr>
              <a:t>$group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59" y="3218688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232D"/>
                </a:solidFill>
                <a:latin typeface="Aptos"/>
              </a:rPr>
              <a:t>filtre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3886200"/>
            <a:ext cx="32918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59" y="4032504"/>
            <a:ext cx="2926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08B34"/>
                </a:solidFill>
                <a:latin typeface="Aptos"/>
              </a:rPr>
              <a:t>$sort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59" y="4453128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232D"/>
                </a:solidFill>
                <a:latin typeface="Aptos"/>
              </a:rPr>
              <a:t>filtre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C6874"/>
                </a:solidFill>
                <a:latin typeface="Aptos"/>
              </a:rPr>
              <a:t>MongoDB — support d'exposé  •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32D"/>
                </a:solidFill>
                <a:latin typeface="Aptos"/>
              </a:rPr>
              <a:t>8. Architecture : application → MongoDB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965960"/>
            <a:ext cx="2926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112264"/>
            <a:ext cx="25603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170AA"/>
                </a:solidFill>
                <a:latin typeface="Aptos"/>
              </a:rPr>
              <a:t>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532888"/>
            <a:ext cx="25603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232D"/>
                </a:solidFill>
                <a:latin typeface="Aptos"/>
              </a:rPr>
              <a:t>Node.js / Python / Java / C#…
Utilise un driver MongoDB.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17720" y="1965960"/>
            <a:ext cx="2926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00600" y="2112264"/>
            <a:ext cx="25603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79E60"/>
                </a:solidFill>
                <a:latin typeface="Aptos"/>
              </a:rPr>
              <a:t>Driver /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2532888"/>
            <a:ext cx="25603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232D"/>
                </a:solidFill>
                <a:latin typeface="Aptos"/>
              </a:rPr>
              <a:t>Transforme les appels de l’application en opérations MongoDB.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1965960"/>
            <a:ext cx="2926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19" y="2112264"/>
            <a:ext cx="25603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08B34"/>
                </a:solidFill>
                <a:latin typeface="Aptos"/>
              </a:rPr>
              <a:t>MongoDB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19" y="2532888"/>
            <a:ext cx="25603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232D"/>
                </a:solidFill>
                <a:latin typeface="Aptos"/>
              </a:rPr>
              <a:t>Stockage + requêtes + index + réplication + distribution.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11880" y="2880360"/>
            <a:ext cx="1005840" cy="0"/>
          </a:xfrm>
          <a:prstGeom prst="line">
            <a:avLst/>
          </a:prstGeom>
          <a:ln w="25400">
            <a:solidFill>
              <a:srgbClr val="5C6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543800" y="2880360"/>
            <a:ext cx="1005840" cy="0"/>
          </a:xfrm>
          <a:prstGeom prst="line">
            <a:avLst/>
          </a:prstGeom>
          <a:ln w="25400">
            <a:solidFill>
              <a:srgbClr val="5C6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97280" y="4709160"/>
            <a:ext cx="99669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9232D"/>
                </a:solidFill>
                <a:latin typeface="Aptos"/>
              </a:rPr>
              <a:t>En cloud, MongoDB Atlas fournit une couche gérée pour déployer et administrer des clusters.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C6874"/>
                </a:solidFill>
                <a:latin typeface="Aptos"/>
              </a:rPr>
              <a:t>MongoDB — support d'exposé  •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32D"/>
                </a:solidFill>
                <a:latin typeface="Aptos"/>
              </a:rPr>
              <a:t>9. Haute disponibilité : Replica 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2588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19232D"/>
                </a:solidFill>
                <a:latin typeface="Aptos"/>
              </a:rPr>
              <a:t>Principe : plusieurs nœuds conservent des copies des données.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057400"/>
            <a:ext cx="32004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203704"/>
            <a:ext cx="2834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79E60"/>
                </a:solidFill>
                <a:latin typeface="Aptos"/>
              </a:rPr>
              <a:t>PRIMARY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624328"/>
            <a:ext cx="2834640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232D"/>
                </a:solidFill>
                <a:latin typeface="Aptos"/>
              </a:rPr>
              <a:t>Accepte les opérations d’écriture selon la configuration.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2057400"/>
            <a:ext cx="32004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2203704"/>
            <a:ext cx="2834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170AA"/>
                </a:solidFill>
                <a:latin typeface="Aptos"/>
              </a:rPr>
              <a:t>SECONDARY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624328"/>
            <a:ext cx="2834640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232D"/>
                </a:solidFill>
                <a:latin typeface="Aptos"/>
              </a:rPr>
              <a:t>Réplique les données et peut participer aux lectures selon la configuration.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2057400"/>
            <a:ext cx="32004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59" y="2203704"/>
            <a:ext cx="2834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08B34"/>
                </a:solidFill>
                <a:latin typeface="Aptos"/>
              </a:rPr>
              <a:t>SECONDARY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59" y="2624328"/>
            <a:ext cx="2834640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232D"/>
                </a:solidFill>
                <a:latin typeface="Aptos"/>
              </a:rPr>
              <a:t>Autre copie pour la redondance et la continuité de service.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77639" y="2788920"/>
            <a:ext cx="502921" cy="0"/>
          </a:xfrm>
          <a:prstGeom prst="line">
            <a:avLst/>
          </a:prstGeom>
          <a:ln w="25400">
            <a:solidFill>
              <a:srgbClr val="5C6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680960" y="2788920"/>
            <a:ext cx="502919" cy="0"/>
          </a:xfrm>
          <a:prstGeom prst="line">
            <a:avLst/>
          </a:prstGeom>
          <a:ln w="25400">
            <a:solidFill>
              <a:srgbClr val="5C6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097280" y="4389120"/>
            <a:ext cx="9966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9232D"/>
                </a:solidFill>
                <a:latin typeface="Aptos"/>
              </a:rPr>
              <a:t>Si le nœud primaire devient indisponible, le replica set peut élire un nouveau primaire.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212080"/>
            <a:ext cx="9418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C6874"/>
                </a:solidFill>
                <a:latin typeface="Aptos"/>
              </a:rPr>
              <a:t>Objectif : disponibilité et résilience — pas simplement « plus de vitesse ».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C6874"/>
                </a:solidFill>
                <a:latin typeface="Aptos"/>
              </a:rPr>
              <a:t>MongoDB — support d'exposé  •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32D"/>
                </a:solidFill>
                <a:latin typeface="Aptos"/>
              </a:rPr>
              <a:t>10. Scalabilité : le sharding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80160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9232D"/>
                </a:solidFill>
                <a:latin typeface="Aptos"/>
              </a:rPr>
              <a:t>Quand les données ou la charge deviennent trop importantes pour une seule machine, les données peuvent être distribuées.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514600"/>
            <a:ext cx="22860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2660904"/>
            <a:ext cx="1920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170AA"/>
                </a:solidFill>
                <a:latin typeface="Aptos"/>
              </a:rPr>
              <a:t>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3081528"/>
            <a:ext cx="1920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232D"/>
                </a:solidFill>
                <a:latin typeface="Aptos"/>
              </a:rPr>
              <a:t>requêtes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40" y="2514600"/>
            <a:ext cx="21945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03320" y="2660904"/>
            <a:ext cx="1828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79E60"/>
                </a:solidFill>
                <a:latin typeface="Aptos"/>
              </a:rPr>
              <a:t>mongos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3081528"/>
            <a:ext cx="1828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232D"/>
                </a:solidFill>
                <a:latin typeface="Aptos"/>
              </a:rPr>
              <a:t>routeur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011680"/>
            <a:ext cx="19202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157984"/>
            <a:ext cx="1554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08B34"/>
                </a:solidFill>
                <a:latin typeface="Aptos"/>
              </a:rPr>
              <a:t>Shard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578608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232D"/>
                </a:solidFill>
                <a:latin typeface="Aptos"/>
              </a:rPr>
              <a:t>partie des données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429000"/>
            <a:ext cx="19202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3575304"/>
            <a:ext cx="1554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08B34"/>
                </a:solidFill>
                <a:latin typeface="Aptos"/>
              </a:rPr>
              <a:t>Shard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995928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232D"/>
                </a:solidFill>
                <a:latin typeface="Aptos"/>
              </a:rPr>
              <a:t>partie des données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0" y="2697480"/>
            <a:ext cx="19202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59" y="2843784"/>
            <a:ext cx="1554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08B34"/>
                </a:solidFill>
                <a:latin typeface="Aptos"/>
              </a:rPr>
              <a:t>Shard 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59" y="3264408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232D"/>
                </a:solidFill>
                <a:latin typeface="Aptos"/>
              </a:rPr>
              <a:t>partie des données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926080" y="3108960"/>
            <a:ext cx="594360" cy="0"/>
          </a:xfrm>
          <a:prstGeom prst="line">
            <a:avLst/>
          </a:prstGeom>
          <a:ln w="25400">
            <a:solidFill>
              <a:srgbClr val="5C6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5715000" y="2606040"/>
            <a:ext cx="685800" cy="502920"/>
          </a:xfrm>
          <a:prstGeom prst="line">
            <a:avLst/>
          </a:prstGeom>
          <a:ln w="25400">
            <a:solidFill>
              <a:srgbClr val="5C6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715000" y="3108960"/>
            <a:ext cx="685800" cy="914400"/>
          </a:xfrm>
          <a:prstGeom prst="line">
            <a:avLst/>
          </a:prstGeom>
          <a:ln w="25400">
            <a:solidFill>
              <a:srgbClr val="5C6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715000" y="3108960"/>
            <a:ext cx="3154680" cy="137160"/>
          </a:xfrm>
          <a:prstGeom prst="line">
            <a:avLst/>
          </a:prstGeom>
          <a:ln w="25400">
            <a:solidFill>
              <a:srgbClr val="5C6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14400" y="5166360"/>
            <a:ext cx="10332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9232D"/>
                </a:solidFill>
                <a:latin typeface="Aptos"/>
              </a:rPr>
              <a:t>La clé de shard détermine la distribution des documents. Son choix est une décision d’architecture importante.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C6874"/>
                </a:solidFill>
                <a:latin typeface="Aptos"/>
              </a:rPr>
              <a:t>MongoDB — support d'exposé  •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32D"/>
                </a:solidFill>
                <a:latin typeface="Aptos"/>
              </a:rPr>
              <a:t>11. Performance : ne pas confondre « NoSQL » et « rapide 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9232D"/>
                </a:solidFill>
                <a:latin typeface="Aptos"/>
              </a:defRPr>
            </a:pPr>
            <a:r>
              <a:t>• La performance dépend du workload : lectures, écritures, agrégations, taille des documents, concurrence…</a:t>
            </a:r>
          </a:p>
          <a:p>
            <a:pPr>
              <a:spcAft>
                <a:spcPts val="700"/>
              </a:spcAft>
              <a:defRPr sz="1900">
                <a:solidFill>
                  <a:srgbClr val="19232D"/>
                </a:solidFill>
                <a:latin typeface="Aptos"/>
              </a:defRPr>
            </a:pPr>
            <a:r>
              <a:t>• Les index, le modèle de données et la mémoire disponible peuvent changer fortement les résultats.</a:t>
            </a:r>
          </a:p>
          <a:p>
            <a:pPr>
              <a:spcAft>
                <a:spcPts val="700"/>
              </a:spcAft>
              <a:defRPr sz="1900">
                <a:solidFill>
                  <a:srgbClr val="19232D"/>
                </a:solidFill>
                <a:latin typeface="Aptos"/>
              </a:defRPr>
            </a:pPr>
            <a:r>
              <a:t>• La réplication et le sharding apportent des propriétés d’architecture, mais aussi de la complexité.</a:t>
            </a:r>
          </a:p>
          <a:p>
            <a:pPr>
              <a:spcAft>
                <a:spcPts val="700"/>
              </a:spcAft>
              <a:defRPr sz="1900">
                <a:solidFill>
                  <a:srgbClr val="19232D"/>
                </a:solidFill>
                <a:latin typeface="Aptos"/>
              </a:defRPr>
            </a:pPr>
            <a:r>
              <a:t>• Un benchmark utile doit comparer le même matériel, les mêmes données, les mêmes requêtes et la même configuration.</a:t>
            </a:r>
          </a:p>
          <a:p>
            <a:pPr>
              <a:spcAft>
                <a:spcPts val="700"/>
              </a:spcAft>
              <a:defRPr sz="1900">
                <a:solidFill>
                  <a:srgbClr val="19232D"/>
                </a:solidFill>
                <a:latin typeface="Aptos"/>
              </a:defRPr>
            </a:pPr>
            <a:r>
              <a:t>• Conclusion méthodologique : il n’existe pas de classement universel « MongoDB &gt; SQL ».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5303520"/>
            <a:ext cx="85039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5449824"/>
            <a:ext cx="81381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08B34"/>
                </a:solidFill>
                <a:latin typeface="Aptos"/>
              </a:rPr>
              <a:t>Pour un exposé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5870448"/>
            <a:ext cx="8138160" cy="91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232D"/>
                </a:solidFill>
                <a:latin typeface="Aptos"/>
              </a:rPr>
              <a:t>Présente des mesures comme des résultats d’un scénario précis, jamais comme une vérité générale.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C6874"/>
                </a:solidFill>
                <a:latin typeface="Aptos"/>
              </a:rPr>
              <a:t>MongoDB — support d'exposé  •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32D"/>
                </a:solidFill>
                <a:latin typeface="Aptos"/>
              </a:rPr>
              <a:t>12. MongoDB face à PostgreSQL / MySQL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6874"/>
                </a:solidFill>
                <a:latin typeface="Aptos"/>
              </a:rPr>
              <a:t>Comparer les caractéristiques, pas seulement les benchmarks.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2240280" cy="530352"/>
          </a:xfrm>
          <a:prstGeom prst="rect">
            <a:avLst/>
          </a:prstGeom>
          <a:solidFill>
            <a:srgbClr val="2369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344168"/>
            <a:ext cx="202082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Critère</a:t>
            </a:r>
          </a:p>
        </p:txBody>
      </p:sp>
      <p:sp>
        <p:nvSpPr>
          <p:cNvPr id="6" name="Rectangle 5"/>
          <p:cNvSpPr/>
          <p:nvPr/>
        </p:nvSpPr>
        <p:spPr>
          <a:xfrm>
            <a:off x="2834640" y="1234440"/>
            <a:ext cx="4480560" cy="530352"/>
          </a:xfrm>
          <a:prstGeom prst="rect">
            <a:avLst/>
          </a:prstGeom>
          <a:solidFill>
            <a:srgbClr val="2369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44368" y="1344168"/>
            <a:ext cx="426110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MongoDB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234440"/>
            <a:ext cx="4297680" cy="530352"/>
          </a:xfrm>
          <a:prstGeom prst="rect">
            <a:avLst/>
          </a:prstGeom>
          <a:solidFill>
            <a:srgbClr val="2369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24927" y="1344168"/>
            <a:ext cx="407822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SGBD relationnel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764792"/>
            <a:ext cx="2240280" cy="694944"/>
          </a:xfrm>
          <a:prstGeom prst="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874520"/>
            <a:ext cx="202082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9232D"/>
                </a:solidFill>
                <a:latin typeface="Aptos"/>
              </a:rPr>
              <a:t>Modèle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40" y="1764792"/>
            <a:ext cx="4480560" cy="694944"/>
          </a:xfrm>
          <a:prstGeom prst="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44368" y="1874520"/>
            <a:ext cx="42611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232D"/>
                </a:solidFill>
                <a:latin typeface="Aptos"/>
              </a:rPr>
              <a:t>Documents BSON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1764792"/>
            <a:ext cx="4297680" cy="694944"/>
          </a:xfrm>
          <a:prstGeom prst="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24927" y="1874520"/>
            <a:ext cx="407822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232D"/>
                </a:solidFill>
                <a:latin typeface="Aptos"/>
              </a:rPr>
              <a:t>Tables / relations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2459736"/>
            <a:ext cx="2240280" cy="694944"/>
          </a:xfrm>
          <a:prstGeom prst="rect">
            <a:avLst/>
          </a:prstGeom>
          <a:solidFill>
            <a:srgbClr val="F1F4F7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2569464"/>
            <a:ext cx="202082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9232D"/>
                </a:solidFill>
                <a:latin typeface="Aptos"/>
              </a:rPr>
              <a:t>Schéma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34640" y="2459736"/>
            <a:ext cx="4480560" cy="694944"/>
          </a:xfrm>
          <a:prstGeom prst="rect">
            <a:avLst/>
          </a:prstGeom>
          <a:solidFill>
            <a:srgbClr val="F1F4F7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44368" y="2569464"/>
            <a:ext cx="42611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232D"/>
                </a:solidFill>
                <a:latin typeface="Aptos"/>
              </a:rPr>
              <a:t>Flexible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2459736"/>
            <a:ext cx="4297680" cy="694944"/>
          </a:xfrm>
          <a:prstGeom prst="rect">
            <a:avLst/>
          </a:prstGeom>
          <a:solidFill>
            <a:srgbClr val="F1F4F7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24927" y="2569464"/>
            <a:ext cx="407822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232D"/>
                </a:solidFill>
                <a:latin typeface="Aptos"/>
              </a:rPr>
              <a:t>Structuré / contraintes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3154680"/>
            <a:ext cx="2240280" cy="694944"/>
          </a:xfrm>
          <a:prstGeom prst="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3264408"/>
            <a:ext cx="202082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9232D"/>
                </a:solidFill>
                <a:latin typeface="Aptos"/>
              </a:rPr>
              <a:t>Relations complexes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34640" y="3154680"/>
            <a:ext cx="4480560" cy="694944"/>
          </a:xfrm>
          <a:prstGeom prst="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44368" y="3264408"/>
            <a:ext cx="42611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232D"/>
                </a:solidFill>
                <a:latin typeface="Aptos"/>
              </a:rPr>
              <a:t>Possible, mais modèle différent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0" y="3154680"/>
            <a:ext cx="4297680" cy="694944"/>
          </a:xfrm>
          <a:prstGeom prst="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24927" y="3264408"/>
            <a:ext cx="407822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232D"/>
                </a:solidFill>
                <a:latin typeface="Aptos"/>
              </a:rPr>
              <a:t>Très naturel avec JOIN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3849624"/>
            <a:ext cx="2240280" cy="694944"/>
          </a:xfrm>
          <a:prstGeom prst="rect">
            <a:avLst/>
          </a:prstGeom>
          <a:solidFill>
            <a:srgbClr val="F1F4F7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3959352"/>
            <a:ext cx="202082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9232D"/>
                </a:solidFill>
                <a:latin typeface="Aptos"/>
              </a:rPr>
              <a:t>Transactions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34640" y="3849624"/>
            <a:ext cx="4480560" cy="694944"/>
          </a:xfrm>
          <a:prstGeom prst="rect">
            <a:avLst/>
          </a:prstGeom>
          <a:solidFill>
            <a:srgbClr val="F1F4F7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44368" y="3959352"/>
            <a:ext cx="42611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232D"/>
                </a:solidFill>
                <a:latin typeface="Aptos"/>
              </a:rPr>
              <a:t>Supportées, y compris multi-documents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0" y="3849624"/>
            <a:ext cx="4297680" cy="694944"/>
          </a:xfrm>
          <a:prstGeom prst="rect">
            <a:avLst/>
          </a:prstGeom>
          <a:solidFill>
            <a:srgbClr val="F1F4F7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24927" y="3959352"/>
            <a:ext cx="407822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232D"/>
                </a:solidFill>
                <a:latin typeface="Aptos"/>
              </a:rPr>
              <a:t>Très mature et centrales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4544568"/>
            <a:ext cx="2240280" cy="694944"/>
          </a:xfrm>
          <a:prstGeom prst="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" y="4654296"/>
            <a:ext cx="202082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9232D"/>
                </a:solidFill>
                <a:latin typeface="Aptos"/>
              </a:rPr>
              <a:t>Scalabilité horizontale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34640" y="4544568"/>
            <a:ext cx="4480560" cy="694944"/>
          </a:xfrm>
          <a:prstGeom prst="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44368" y="4654296"/>
            <a:ext cx="42611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232D"/>
                </a:solidFill>
                <a:latin typeface="Aptos"/>
              </a:rPr>
              <a:t>Sharding natif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0" y="4544568"/>
            <a:ext cx="4297680" cy="694944"/>
          </a:xfrm>
          <a:prstGeom prst="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24927" y="4654296"/>
            <a:ext cx="407822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232D"/>
                </a:solidFill>
                <a:latin typeface="Aptos"/>
              </a:rPr>
              <a:t>Possible selon technologie / architecture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" y="5239512"/>
            <a:ext cx="2240280" cy="694944"/>
          </a:xfrm>
          <a:prstGeom prst="rect">
            <a:avLst/>
          </a:prstGeom>
          <a:solidFill>
            <a:srgbClr val="F1F4F7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4088" y="5349240"/>
            <a:ext cx="202082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9232D"/>
                </a:solidFill>
                <a:latin typeface="Aptos"/>
              </a:rPr>
              <a:t>Requêtes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834640" y="5239512"/>
            <a:ext cx="4480560" cy="694944"/>
          </a:xfrm>
          <a:prstGeom prst="rect">
            <a:avLst/>
          </a:prstGeom>
          <a:solidFill>
            <a:srgbClr val="F1F4F7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944368" y="5349240"/>
            <a:ext cx="42611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232D"/>
                </a:solidFill>
                <a:latin typeface="Aptos"/>
              </a:rPr>
              <a:t>Document + aggregation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15200" y="5239512"/>
            <a:ext cx="4297680" cy="694944"/>
          </a:xfrm>
          <a:prstGeom prst="rect">
            <a:avLst/>
          </a:prstGeom>
          <a:solidFill>
            <a:srgbClr val="F1F4F7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24927" y="5349240"/>
            <a:ext cx="407822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232D"/>
                </a:solidFill>
                <a:latin typeface="Aptos"/>
              </a:rPr>
              <a:t>SQL + JOIN + agrégations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" y="5989320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5C6874"/>
                </a:solidFill>
                <a:latin typeface="Aptos"/>
              </a:rPr>
              <a:t>Le bon choix dépend du modèle de données, des requêtes et des contraintes de l’application.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C6874"/>
                </a:solidFill>
                <a:latin typeface="Aptos"/>
              </a:rPr>
              <a:t>MongoDB — support d'exposé  •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32D"/>
                </a:solidFill>
                <a:latin typeface="Aptos"/>
              </a:rPr>
              <a:t>13. Avantages et limites à présenter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25880"/>
            <a:ext cx="525780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72184"/>
            <a:ext cx="4892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79E60"/>
                </a:solidFill>
                <a:latin typeface="Aptos"/>
              </a:rPr>
              <a:t>Forces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92807"/>
            <a:ext cx="4892040" cy="3154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232D"/>
                </a:solidFill>
                <a:latin typeface="Aptos"/>
              </a:rPr>
              <a:t>• Modèle document flexible
• Données proches des objets applicatifs
• Index et aggregation
• Réplication et sharding
• Écosystème cloud avec Atlas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325880"/>
            <a:ext cx="525780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472184"/>
            <a:ext cx="4892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08B34"/>
                </a:solidFill>
                <a:latin typeface="Aptos"/>
              </a:rPr>
              <a:t>Points d’attention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892807"/>
            <a:ext cx="4892040" cy="3154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232D"/>
                </a:solidFill>
                <a:latin typeface="Aptos"/>
              </a:rPr>
              <a:t>• Modélisation différente du relationnel
• Index à concevoir soigneusement
• Sharding = complexité supplémentaire
• Relations complexes à traiter selon le modèle
• Performance à mesurer sur le workload réel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C6874"/>
                </a:solidFill>
                <a:latin typeface="Aptos"/>
              </a:rPr>
              <a:t>MongoDB — support d'exposé  •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32D"/>
                </a:solidFill>
                <a:latin typeface="Aptos"/>
              </a:rPr>
              <a:t>14. Exemple concret : une boutique en ligne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6874"/>
                </a:solidFill>
                <a:latin typeface="Aptos"/>
              </a:rPr>
              <a:t>On utilise MongoDB pour gérer des clients, un catalogue et des commandes.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554480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170AA"/>
                </a:solidFill>
                <a:latin typeface="Aptos"/>
              </a:rPr>
              <a:t>1 — USERS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1984248"/>
            <a:ext cx="3017520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232D"/>
                </a:solidFill>
                <a:latin typeface="Aptos"/>
              </a:rPr>
              <a:t>Un document représente un client : nom, email, adresse…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1732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554480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79E60"/>
                </a:solidFill>
                <a:latin typeface="Aptos"/>
              </a:rPr>
              <a:t>2 — PRODUCTS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984248"/>
            <a:ext cx="3017520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232D"/>
                </a:solidFill>
                <a:latin typeface="Aptos"/>
              </a:rPr>
              <a:t>Un document représente un produit : nom, prix, stock, catégorie…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41732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554480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08B34"/>
                </a:solidFill>
                <a:latin typeface="Aptos"/>
              </a:rPr>
              <a:t>3 — 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984248"/>
            <a:ext cx="3017520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232D"/>
                </a:solidFill>
                <a:latin typeface="Aptos"/>
              </a:rPr>
              <a:t>Une commande contient le client, les lignes achetées, le total et le statut.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74720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9232D"/>
                </a:solidFill>
                <a:latin typeface="Aptos"/>
              </a:rPr>
              <a:t>Exemple de document produit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86200"/>
            <a:ext cx="5074920" cy="1965960"/>
          </a:xfrm>
          <a:prstGeom prst="roundRect">
            <a:avLst/>
          </a:prstGeom>
          <a:solidFill>
            <a:srgbClr val="1C232A"/>
          </a:solidFill>
          <a:ln>
            <a:solidFill>
              <a:srgbClr val="1C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014215"/>
            <a:ext cx="4745736" cy="1709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E8F2EB"/>
                </a:solidFill>
                <a:latin typeface="Courier New"/>
              </a:rPr>
              <a:t>{
  "_id": "p1001",
  "name": "Clavier mécanique",
  "price": 89.90,
  "stock": 42,
  "category": "informatique"
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474720"/>
            <a:ext cx="43891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9232D"/>
                </a:solidFill>
                <a:latin typeface="Aptos"/>
              </a:rPr>
              <a:t>Pourquoi MongoDB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977639"/>
            <a:ext cx="489204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9232D"/>
                </a:solidFill>
                <a:latin typeface="Aptos"/>
              </a:rPr>
              <a:t>Le document est proche de l'objet manipulé par l'application. On peut faire évoluer les champs et ajouter des sous-documents selon les besoins.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5532120"/>
            <a:ext cx="4892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3693C"/>
                </a:solidFill>
                <a:latin typeface="Aptos"/>
              </a:rPr>
              <a:t>Scénario : un utilisateur cherche un produit → ajoute au panier → passe commande → la commande est enregistrée.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C6874"/>
                </a:solidFill>
                <a:latin typeface="Aptos"/>
              </a:rPr>
              <a:t>MongoDB — support d'exposé  •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32D"/>
                </a:solidFill>
                <a:latin typeface="Aptos"/>
              </a:rPr>
              <a:t>15. Exemple d’utilisation : du produit à la commande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6874"/>
                </a:solidFill>
                <a:latin typeface="Aptos"/>
              </a:rPr>
              <a:t>Voici ce que pourrait exécuter une application via le driver MongoDB.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79E60"/>
                </a:solidFill>
                <a:latin typeface="Aptos"/>
              </a:rPr>
              <a:t>① Insérer un produit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5212080" cy="1417320"/>
          </a:xfrm>
          <a:prstGeom prst="roundRect">
            <a:avLst/>
          </a:prstGeom>
          <a:solidFill>
            <a:srgbClr val="1C232A"/>
          </a:solidFill>
          <a:ln>
            <a:solidFill>
              <a:srgbClr val="1C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865376"/>
            <a:ext cx="4882896" cy="11612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E8F2EB"/>
                </a:solidFill>
                <a:latin typeface="Courier New"/>
              </a:rPr>
              <a:t>db.products.insertOne({
  name: "Clavier mécanique",
  price: 89.90,
  stock: 42
})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32588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170AA"/>
                </a:solidFill>
                <a:latin typeface="Aptos"/>
              </a:rPr>
              <a:t>② Chercher les produits disponibles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737360"/>
            <a:ext cx="5212080" cy="1417320"/>
          </a:xfrm>
          <a:prstGeom prst="roundRect">
            <a:avLst/>
          </a:prstGeom>
          <a:solidFill>
            <a:srgbClr val="1C232A"/>
          </a:solidFill>
          <a:ln>
            <a:solidFill>
              <a:srgbClr val="1C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91072" y="1865376"/>
            <a:ext cx="4882896" cy="11612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E8F2EB"/>
                </a:solidFill>
                <a:latin typeface="Courier New"/>
              </a:rPr>
              <a:t>db.products.find({
  stock: { $gt: 0 },
  category: "informatique"
})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45643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08B34"/>
                </a:solidFill>
                <a:latin typeface="Aptos"/>
              </a:rPr>
              <a:t>③ Créer une commande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858768"/>
            <a:ext cx="5212080" cy="1965960"/>
          </a:xfrm>
          <a:prstGeom prst="roundRect">
            <a:avLst/>
          </a:prstGeom>
          <a:solidFill>
            <a:srgbClr val="1C232A"/>
          </a:solidFill>
          <a:ln>
            <a:solidFill>
              <a:srgbClr val="1C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3986783"/>
            <a:ext cx="4882896" cy="1709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E8F2EB"/>
                </a:solidFill>
                <a:latin typeface="Courier New"/>
              </a:rPr>
              <a:t>db.orders.insertOne({
  userId: "u42",
  items: [
    { productId: "p1001", qty: 2, price: 89.90 }
  ],
  total: 179.80,
  status: "paid"
})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3456432"/>
            <a:ext cx="4023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3693C"/>
                </a:solidFill>
                <a:latin typeface="Aptos"/>
              </a:rPr>
              <a:t>④ Analyser les ventes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858768"/>
            <a:ext cx="5212080" cy="1965960"/>
          </a:xfrm>
          <a:prstGeom prst="roundRect">
            <a:avLst/>
          </a:prstGeom>
          <a:solidFill>
            <a:srgbClr val="1C232A"/>
          </a:solidFill>
          <a:ln>
            <a:solidFill>
              <a:srgbClr val="1C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3986783"/>
            <a:ext cx="4882896" cy="1709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E8F2EB"/>
                </a:solidFill>
                <a:latin typeface="Courier New"/>
              </a:rPr>
              <a:t>db.orders.aggregate([
  { $match: { status: "paid" } },
  { $group: {
      _id: "$userId",
      total: { $sum: "$total" }
  }}
])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C6874"/>
                </a:solidFill>
                <a:latin typeface="Aptos"/>
              </a:rPr>
              <a:t>MongoDB — support d'exposé  •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3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9436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CDE1D4"/>
                </a:solidFill>
                <a:latin typeface="Aptos"/>
              </a:rPr>
              <a:t>MongoDB = modèle document + requêtes + index +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479E60"/>
                </a:solidFill>
                <a:latin typeface="Aptos"/>
              </a:rPr>
              <a:t>À retenir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246120"/>
            <a:ext cx="9875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• Comprendre le modèle de documents avant les commandes.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• La performance dépend du scénario et de la conception.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• Les index et la modélisation sont déterminants.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• Replica sets → disponibilité ; sharding → distribution.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• Comparer MongoDB et SQL selon le besoin réel.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08076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Questions 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32D"/>
                </a:solidFill>
                <a:latin typeface="Aptos"/>
              </a:rPr>
              <a:t>Sources et ressources officielles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6874"/>
                </a:solidFill>
                <a:latin typeface="Aptos"/>
              </a:rPr>
              <a:t>À consulter pour approfondir et actualiser les détails techniques.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9232D"/>
                </a:solidFill>
                <a:latin typeface="Aptos"/>
              </a:defRPr>
            </a:pPr>
            <a:r>
              <a:t>• MongoDB Documentation — https://www.mongodb.com/docs/manual/</a:t>
            </a:r>
          </a:p>
          <a:p>
            <a:pPr>
              <a:spcAft>
                <a:spcPts val="700"/>
              </a:spcAft>
              <a:defRPr sz="1600">
                <a:solidFill>
                  <a:srgbClr val="19232D"/>
                </a:solidFill>
                <a:latin typeface="Aptos"/>
              </a:defRPr>
            </a:pPr>
            <a:r>
              <a:t>• MongoDB Atlas — https://www.mongodb.com/docs/atlas/</a:t>
            </a:r>
          </a:p>
          <a:p>
            <a:pPr>
              <a:spcAft>
                <a:spcPts val="700"/>
              </a:spcAft>
              <a:defRPr sz="1600">
                <a:solidFill>
                  <a:srgbClr val="19232D"/>
                </a:solidFill>
                <a:latin typeface="Aptos"/>
              </a:defRPr>
            </a:pPr>
            <a:r>
              <a:t>• Sharding — https://www.mongodb.com/docs/manual/sharding/</a:t>
            </a:r>
          </a:p>
          <a:p>
            <a:pPr>
              <a:spcAft>
                <a:spcPts val="700"/>
              </a:spcAft>
              <a:defRPr sz="1600">
                <a:solidFill>
                  <a:srgbClr val="19232D"/>
                </a:solidFill>
                <a:latin typeface="Aptos"/>
              </a:defRPr>
            </a:pPr>
            <a:r>
              <a:t>• Atlas : interaction avec les données — https://www.mongodb.com/docs/atlas/atlas-ui/</a:t>
            </a:r>
          </a:p>
          <a:p>
            <a:pPr>
              <a:spcAft>
                <a:spcPts val="700"/>
              </a:spcAft>
              <a:defRPr sz="1600">
                <a:solidFill>
                  <a:srgbClr val="19232D"/>
                </a:solidFill>
                <a:latin typeface="Aptos"/>
              </a:defRPr>
            </a:pPr>
            <a:r>
              <a:t>• Atlas : création et connexion aux clusters — https://www.mongodb.com/docs/atlas/create-connect-deployments/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C6874"/>
                </a:solidFill>
                <a:latin typeface="Aptos"/>
              </a:rPr>
              <a:t>Les informations d’architecture et de fonctionnalités évoluent avec les versions : vérifier la documentation correspondant à la version utilisée.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C6874"/>
                </a:solidFill>
                <a:latin typeface="Aptos"/>
              </a:rPr>
              <a:t>MongoDB — support d'exposé  •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32D"/>
                </a:solidFill>
                <a:latin typeface="Aptos"/>
              </a:rPr>
              <a:t>16. MongoDB vs Redis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6874"/>
                </a:solidFill>
                <a:latin typeface="Aptos"/>
              </a:rPr>
              <a:t>Deux bases NoSQL, mais deux modèles et des rôles souvent différents.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1828800" cy="530352"/>
          </a:xfrm>
          <a:prstGeom prst="rect">
            <a:avLst/>
          </a:prstGeom>
          <a:solidFill>
            <a:srgbClr val="2369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1344168"/>
            <a:ext cx="16093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Critère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31720" y="1234440"/>
            <a:ext cx="4892040" cy="530352"/>
          </a:xfrm>
          <a:prstGeom prst="rect">
            <a:avLst/>
          </a:prstGeom>
          <a:solidFill>
            <a:srgbClr val="2369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41448" y="1344168"/>
            <a:ext cx="4672583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MongoDB</a:t>
            </a:r>
          </a:p>
        </p:txBody>
      </p:sp>
      <p:sp>
        <p:nvSpPr>
          <p:cNvPr id="8" name="Rectangle 7"/>
          <p:cNvSpPr/>
          <p:nvPr/>
        </p:nvSpPr>
        <p:spPr>
          <a:xfrm>
            <a:off x="7223759" y="1234440"/>
            <a:ext cx="4572000" cy="530352"/>
          </a:xfrm>
          <a:prstGeom prst="rect">
            <a:avLst/>
          </a:prstGeom>
          <a:solidFill>
            <a:srgbClr val="2369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33488" y="1344168"/>
            <a:ext cx="43525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Redis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764792"/>
            <a:ext cx="18288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1865376"/>
            <a:ext cx="16093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1">
                <a:solidFill>
                  <a:srgbClr val="19232D"/>
                </a:solidFill>
                <a:latin typeface="Aptos"/>
              </a:rPr>
              <a:t>Modèle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31720" y="1764792"/>
            <a:ext cx="48920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41448" y="1865376"/>
            <a:ext cx="467258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19232D"/>
                </a:solidFill>
                <a:latin typeface="Aptos"/>
              </a:rPr>
              <a:t>Documents BSON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23759" y="1764792"/>
            <a:ext cx="45720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33488" y="1865376"/>
            <a:ext cx="43525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19232D"/>
                </a:solidFill>
                <a:latin typeface="Aptos"/>
              </a:rPr>
              <a:t>Clé → valeur / structures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423160"/>
            <a:ext cx="1828800" cy="658368"/>
          </a:xfrm>
          <a:prstGeom prst="rect">
            <a:avLst/>
          </a:prstGeom>
          <a:solidFill>
            <a:srgbClr val="F1F4F7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2523744"/>
            <a:ext cx="16093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1">
                <a:solidFill>
                  <a:srgbClr val="19232D"/>
                </a:solidFill>
                <a:latin typeface="Aptos"/>
              </a:rPr>
              <a:t>Stockage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31720" y="2423160"/>
            <a:ext cx="4892040" cy="658368"/>
          </a:xfrm>
          <a:prstGeom prst="rect">
            <a:avLst/>
          </a:prstGeom>
          <a:solidFill>
            <a:srgbClr val="F1F4F7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41448" y="2523744"/>
            <a:ext cx="467258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19232D"/>
                </a:solidFill>
                <a:latin typeface="Aptos"/>
              </a:rPr>
              <a:t>Disque par défaut + cache mémoire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23759" y="2423160"/>
            <a:ext cx="4572000" cy="658368"/>
          </a:xfrm>
          <a:prstGeom prst="rect">
            <a:avLst/>
          </a:prstGeom>
          <a:solidFill>
            <a:srgbClr val="F1F4F7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33488" y="2523744"/>
            <a:ext cx="43525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19232D"/>
                </a:solidFill>
                <a:latin typeface="Aptos"/>
              </a:rPr>
              <a:t>Principalement en mémoire + persistance optionnelle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081528"/>
            <a:ext cx="18288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" y="3182112"/>
            <a:ext cx="16093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1">
                <a:solidFill>
                  <a:srgbClr val="19232D"/>
                </a:solidFill>
                <a:latin typeface="Aptos"/>
              </a:rPr>
              <a:t>Accès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31720" y="3081528"/>
            <a:ext cx="48920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41448" y="3182112"/>
            <a:ext cx="467258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19232D"/>
                </a:solidFill>
                <a:latin typeface="Aptos"/>
              </a:rPr>
              <a:t>Requêtes sur champs + aggregation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23759" y="3081528"/>
            <a:ext cx="45720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33488" y="3182112"/>
            <a:ext cx="43525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19232D"/>
                </a:solidFill>
                <a:latin typeface="Aptos"/>
              </a:rPr>
              <a:t>Commandes orientées clés et structures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3739896"/>
            <a:ext cx="1828800" cy="658368"/>
          </a:xfrm>
          <a:prstGeom prst="rect">
            <a:avLst/>
          </a:prstGeom>
          <a:solidFill>
            <a:srgbClr val="F1F4F7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" y="3840480"/>
            <a:ext cx="16093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1">
                <a:solidFill>
                  <a:srgbClr val="19232D"/>
                </a:solidFill>
                <a:latin typeface="Aptos"/>
              </a:rPr>
              <a:t>Cas courant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31720" y="3739896"/>
            <a:ext cx="4892040" cy="658368"/>
          </a:xfrm>
          <a:prstGeom prst="rect">
            <a:avLst/>
          </a:prstGeom>
          <a:solidFill>
            <a:srgbClr val="F1F4F7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41448" y="3840480"/>
            <a:ext cx="467258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19232D"/>
                </a:solidFill>
                <a:latin typeface="Aptos"/>
              </a:rPr>
              <a:t>Base opérationnelle / source de vérité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23759" y="3739896"/>
            <a:ext cx="4572000" cy="658368"/>
          </a:xfrm>
          <a:prstGeom prst="rect">
            <a:avLst/>
          </a:prstGeom>
          <a:solidFill>
            <a:srgbClr val="F1F4F7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33488" y="3840480"/>
            <a:ext cx="43525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19232D"/>
                </a:solidFill>
                <a:latin typeface="Aptos"/>
              </a:rPr>
              <a:t>Cache, sessions, compteurs, files, temps réel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4398264"/>
            <a:ext cx="18288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2648" y="4498848"/>
            <a:ext cx="16093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1">
                <a:solidFill>
                  <a:srgbClr val="19232D"/>
                </a:solidFill>
                <a:latin typeface="Aptos"/>
              </a:rPr>
              <a:t>Scalabilité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31720" y="4398264"/>
            <a:ext cx="48920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441448" y="4498848"/>
            <a:ext cx="467258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19232D"/>
                </a:solidFill>
                <a:latin typeface="Aptos"/>
              </a:rPr>
              <a:t>Replica sets + sharding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23759" y="4398264"/>
            <a:ext cx="45720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33488" y="4498848"/>
            <a:ext cx="43525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19232D"/>
                </a:solidFill>
                <a:latin typeface="Aptos"/>
              </a:rPr>
              <a:t>Replication + Redis Cluster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5056631"/>
            <a:ext cx="1828800" cy="658368"/>
          </a:xfrm>
          <a:prstGeom prst="rect">
            <a:avLst/>
          </a:prstGeom>
          <a:solidFill>
            <a:srgbClr val="F1F4F7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2648" y="5157216"/>
            <a:ext cx="16093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1">
                <a:solidFill>
                  <a:srgbClr val="19232D"/>
                </a:solidFill>
                <a:latin typeface="Aptos"/>
              </a:rPr>
              <a:t>Transactions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331720" y="5056631"/>
            <a:ext cx="4892040" cy="658368"/>
          </a:xfrm>
          <a:prstGeom prst="rect">
            <a:avLst/>
          </a:prstGeom>
          <a:solidFill>
            <a:srgbClr val="F1F4F7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441448" y="5157216"/>
            <a:ext cx="467258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19232D"/>
                </a:solidFill>
                <a:latin typeface="Aptos"/>
              </a:rPr>
              <a:t>Transactions ACID multi-documents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23759" y="5056631"/>
            <a:ext cx="4572000" cy="658368"/>
          </a:xfrm>
          <a:prstGeom prst="rect">
            <a:avLst/>
          </a:prstGeom>
          <a:solidFill>
            <a:srgbClr val="F1F4F7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33488" y="5157216"/>
            <a:ext cx="43525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19232D"/>
                </a:solidFill>
                <a:latin typeface="Aptos"/>
              </a:rPr>
              <a:t>MULTI/EXEC, sans rollback automatique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" y="589788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1">
                <a:solidFill>
                  <a:srgbClr val="E08B34"/>
                </a:solidFill>
                <a:latin typeface="Aptos"/>
              </a:rPr>
              <a:t>Point essentiel : Redis est souvent une couche complémentaire plutôt qu’un remplacement direct de MongoDB.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6272784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C6874"/>
                </a:solidFill>
                <a:latin typeface="Aptos"/>
              </a:rPr>
              <a:t>Sources : MongoDB — mongodb.com/resources/compare/mongodb-vs-redis ; Redis — redis.io/docs/latest/get-started/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C6874"/>
                </a:solidFill>
                <a:latin typeface="Aptos"/>
              </a:rPr>
              <a:t>MongoDB — support d'exposé  •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32D"/>
                </a:solidFill>
                <a:latin typeface="Aptos"/>
              </a:rPr>
              <a:t>17. Exemple d’architecture : MongoDB + Redis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6874"/>
                </a:solidFill>
                <a:latin typeface="Aptos"/>
              </a:rPr>
              <a:t>Un schéma fréquent : MongoDB conserve les données métier, Redis accélère certains accès.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74519"/>
            <a:ext cx="25603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20824"/>
            <a:ext cx="2194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170AA"/>
                </a:solidFill>
                <a:latin typeface="Aptos"/>
              </a:rPr>
              <a:t>Application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41448"/>
            <a:ext cx="21945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232D"/>
                </a:solidFill>
                <a:latin typeface="Aptos"/>
              </a:rPr>
              <a:t>API / backend
Node.js, Python, Java…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94760" y="1325880"/>
            <a:ext cx="27432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77640" y="1472184"/>
            <a:ext cx="23774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AA4641"/>
                </a:solidFill>
                <a:latin typeface="Aptos"/>
              </a:rPr>
              <a:t>Redis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40" y="1892807"/>
            <a:ext cx="237744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232D"/>
                </a:solidFill>
                <a:latin typeface="Aptos"/>
              </a:rPr>
              <a:t>Cache
Sessions
Compteurs
Données très chaudes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1325880"/>
            <a:ext cx="324612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43800" y="1472184"/>
            <a:ext cx="2880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79E60"/>
                </a:solidFill>
                <a:latin typeface="Aptos"/>
              </a:rPr>
              <a:t>MongoDB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1892807"/>
            <a:ext cx="288036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232D"/>
                </a:solidFill>
                <a:latin typeface="Aptos"/>
              </a:rPr>
              <a:t>Source de vérité
Users / Products / Orders
Requêtes et agrégations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3154680" y="2560320"/>
            <a:ext cx="640080" cy="137160"/>
          </a:xfrm>
          <a:prstGeom prst="line">
            <a:avLst/>
          </a:prstGeom>
          <a:ln w="25400">
            <a:solidFill>
              <a:srgbClr val="5C6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537960" y="2560320"/>
            <a:ext cx="822960" cy="0"/>
          </a:xfrm>
          <a:prstGeom prst="line">
            <a:avLst/>
          </a:prstGeom>
          <a:ln w="25400">
            <a:solidFill>
              <a:srgbClr val="5C6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60120" y="4297680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9232D"/>
                </a:solidFill>
                <a:latin typeface="Aptos"/>
              </a:rPr>
              <a:t>Exemple : /products/123 → vérifier le cache Redis → sinon lire MongoDB → remettre le résultat en cache.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166360"/>
            <a:ext cx="103327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C6874"/>
                </a:solidFill>
                <a:latin typeface="Aptos"/>
              </a:rPr>
              <a:t>Cette combinaison réduit potentiellement la charge de la base principale et améliore la latence perçue sur certains accès répétés.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8076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C6874"/>
                </a:solidFill>
                <a:latin typeface="Aptos"/>
              </a:rPr>
              <a:t>Source : MongoDB, « MongoDB vs. Redis Comparison » — mongodb.com/resources/compare/mongodb-vs-redis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C6874"/>
                </a:solidFill>
                <a:latin typeface="Aptos"/>
              </a:rPr>
              <a:t>MongoDB — support d'exposé  •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32D"/>
                </a:solidFill>
                <a:latin typeface="Aptos"/>
              </a:rPr>
              <a:t>18. Test de performance : méthode reproductible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6874"/>
                </a:solidFill>
                <a:latin typeface="Aptos"/>
              </a:rPr>
              <a:t>On mesure un scénario précis, pas « quelle base est la plus rapide ».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417320"/>
            <a:ext cx="502920" cy="502920"/>
          </a:xfrm>
          <a:prstGeom prst="ellipse">
            <a:avLst/>
          </a:prstGeom>
          <a:solidFill>
            <a:srgbClr val="479E60"/>
          </a:solidFill>
          <a:ln>
            <a:solidFill>
              <a:srgbClr val="479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3619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201168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9232D"/>
                </a:solidFill>
                <a:latin typeface="Aptos"/>
              </a:rPr>
              <a:t>Même machine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2468880"/>
            <a:ext cx="2148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5C6874"/>
                </a:solidFill>
                <a:latin typeface="Aptos"/>
              </a:rPr>
              <a:t>CPU, RAM, stockage identiques</a:t>
            </a:r>
          </a:p>
        </p:txBody>
      </p:sp>
      <p:sp>
        <p:nvSpPr>
          <p:cNvPr id="8" name="Oval 7"/>
          <p:cNvSpPr/>
          <p:nvPr/>
        </p:nvSpPr>
        <p:spPr>
          <a:xfrm>
            <a:off x="2926080" y="1417320"/>
            <a:ext cx="502920" cy="502920"/>
          </a:xfrm>
          <a:prstGeom prst="ellipse">
            <a:avLst/>
          </a:prstGeom>
          <a:solidFill>
            <a:srgbClr val="479E60"/>
          </a:solidFill>
          <a:ln>
            <a:solidFill>
              <a:srgbClr val="479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153619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61488" y="201168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9232D"/>
                </a:solidFill>
                <a:latin typeface="Aptos"/>
              </a:rPr>
              <a:t>Même jeu de données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2468880"/>
            <a:ext cx="2148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5C6874"/>
                </a:solidFill>
                <a:latin typeface="Aptos"/>
              </a:rPr>
              <a:t>10 000 documents / clés</a:t>
            </a:r>
          </a:p>
        </p:txBody>
      </p:sp>
      <p:sp>
        <p:nvSpPr>
          <p:cNvPr id="12" name="Oval 11"/>
          <p:cNvSpPr/>
          <p:nvPr/>
        </p:nvSpPr>
        <p:spPr>
          <a:xfrm>
            <a:off x="5212080" y="1417320"/>
            <a:ext cx="502920" cy="502920"/>
          </a:xfrm>
          <a:prstGeom prst="ellipse">
            <a:avLst/>
          </a:prstGeom>
          <a:solidFill>
            <a:srgbClr val="479E60"/>
          </a:solidFill>
          <a:ln>
            <a:solidFill>
              <a:srgbClr val="479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153619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47488" y="201168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9232D"/>
                </a:solidFill>
                <a:latin typeface="Aptos"/>
              </a:rPr>
              <a:t>Même opérations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2468880"/>
            <a:ext cx="2148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5C6874"/>
                </a:solidFill>
                <a:latin typeface="Aptos"/>
              </a:rPr>
              <a:t>écriture, lecture par identifiant, mise à jour</a:t>
            </a:r>
          </a:p>
        </p:txBody>
      </p:sp>
      <p:sp>
        <p:nvSpPr>
          <p:cNvPr id="16" name="Oval 15"/>
          <p:cNvSpPr/>
          <p:nvPr/>
        </p:nvSpPr>
        <p:spPr>
          <a:xfrm>
            <a:off x="7498079" y="1417320"/>
            <a:ext cx="502920" cy="502920"/>
          </a:xfrm>
          <a:prstGeom prst="ellipse">
            <a:avLst/>
          </a:prstGeom>
          <a:solidFill>
            <a:srgbClr val="479E60"/>
          </a:solidFill>
          <a:ln>
            <a:solidFill>
              <a:srgbClr val="479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153619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33488" y="201168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9232D"/>
                </a:solidFill>
                <a:latin typeface="Aptos"/>
              </a:rPr>
              <a:t>Même protocole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79" y="2468880"/>
            <a:ext cx="2148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5C6874"/>
                </a:solidFill>
                <a:latin typeface="Aptos"/>
              </a:rPr>
              <a:t>Python + clients officiels</a:t>
            </a:r>
          </a:p>
        </p:txBody>
      </p:sp>
      <p:sp>
        <p:nvSpPr>
          <p:cNvPr id="20" name="Oval 19"/>
          <p:cNvSpPr/>
          <p:nvPr/>
        </p:nvSpPr>
        <p:spPr>
          <a:xfrm>
            <a:off x="9784080" y="1417320"/>
            <a:ext cx="502920" cy="502920"/>
          </a:xfrm>
          <a:prstGeom prst="ellipse">
            <a:avLst/>
          </a:prstGeom>
          <a:solidFill>
            <a:srgbClr val="479E60"/>
          </a:solidFill>
          <a:ln>
            <a:solidFill>
              <a:srgbClr val="479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0" y="153619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19488" y="201168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9232D"/>
                </a:solidFill>
                <a:latin typeface="Aptos"/>
              </a:rPr>
              <a:t>Mesures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2468880"/>
            <a:ext cx="2148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5C6874"/>
                </a:solidFill>
                <a:latin typeface="Aptos"/>
              </a:rPr>
              <a:t>débit + p50 + p95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977639"/>
            <a:ext cx="5074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123944"/>
            <a:ext cx="470915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79E60"/>
                </a:solidFill>
                <a:latin typeface="Aptos"/>
              </a:rPr>
              <a:t>Test A — MongoDB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544568"/>
            <a:ext cx="470915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232D"/>
                </a:solidFill>
                <a:latin typeface="Aptos"/>
              </a:rPr>
              <a:t>insert_one + find_one(_id) + update_one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3977639"/>
            <a:ext cx="5074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4123944"/>
            <a:ext cx="470915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AA4641"/>
                </a:solidFill>
                <a:latin typeface="Aptos"/>
              </a:rPr>
              <a:t>Test B — Redis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4544568"/>
            <a:ext cx="470915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232D"/>
                </a:solidFill>
                <a:latin typeface="Aptos"/>
              </a:rPr>
              <a:t>SET + GET + HSET / HGET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440680"/>
            <a:ext cx="10332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20" b="0">
                <a:solidFill>
                  <a:srgbClr val="5C6874"/>
                </a:solidFill>
                <a:latin typeface="Aptos"/>
              </a:rPr>
              <a:t>Attention : les résultats dépendent fortement des réglages de persistance et du workload. Redis rappelle lui-même qu’un benchmark doit tenir compte de ces paramètres.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608076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C6874"/>
                </a:solidFill>
                <a:latin typeface="Aptos"/>
              </a:rPr>
              <a:t>Source : Redis benchmark documentation — redis.io/docs/latest/operate/oss_and_stack/management/optimization/benchmarks/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C6874"/>
                </a:solidFill>
                <a:latin typeface="Aptos"/>
              </a:rPr>
              <a:t>MongoDB — support d'exposé  • 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32D"/>
                </a:solidFill>
                <a:latin typeface="Aptos"/>
              </a:rPr>
              <a:t>19. Code : benchmark MongoDB ↔ Redis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6874"/>
                </a:solidFill>
                <a:latin typeface="Aptos"/>
              </a:rPr>
              <a:t>Script Python fourni avec le PowerPoint.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10972800" cy="4389120"/>
          </a:xfrm>
          <a:prstGeom prst="roundRect">
            <a:avLst/>
          </a:prstGeom>
          <a:solidFill>
            <a:srgbClr val="1C232A"/>
          </a:solidFill>
          <a:ln>
            <a:solidFill>
              <a:srgbClr val="1C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408176"/>
            <a:ext cx="10643616" cy="41330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20">
                <a:solidFill>
                  <a:srgbClr val="E8F2EB"/>
                </a:solidFill>
                <a:latin typeface="Courier New"/>
              </a:rPr>
              <a:t>from pymongo import MongoClient
import redis, time, random, statistics
N = 10_000
mongo = MongoClient("mongodb://localhost:27017")["bench"]["items"]
r = redis.Redis(host="localhost", port=6379, decode_responses=True)
def bench(label, fn):
    lat = []
    for _ in range(N):
        t0 = time.perf_counter_ns()
        fn()
        lat.append((time.perf_counter_ns() - t0) / 1e6)
    p50 = statistics.median(lat)
    p95 = sorted(lat)[int(.95 * len(lat))]
    print(f"{label:18} p50={p50:7.3f} ms  p95={p95:7.3f} ms")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833872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30" b="1">
                <a:solidFill>
                  <a:srgbClr val="19232D"/>
                </a:solidFill>
                <a:latin typeface="Aptos"/>
              </a:rPr>
              <a:t>Le fichier benchmark_mongodb_redis.py contient le test complet : préparation des données, écritures, lectures, mises à jour et synthèse.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C6874"/>
                </a:solidFill>
                <a:latin typeface="Aptos"/>
              </a:rPr>
              <a:t>MongoDB — support d'exposé  • 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32D"/>
                </a:solidFill>
                <a:latin typeface="Aptos"/>
              </a:rPr>
              <a:t>20. Lancer le test chez toi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6874"/>
                </a:solidFill>
                <a:latin typeface="Aptos"/>
              </a:rPr>
              <a:t>Le benchmark est prêt à être exécuté avec MongoDB et Redis en local.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9232D"/>
                </a:solidFill>
                <a:latin typeface="Aptos"/>
              </a:rPr>
              <a:t>1 — Installer / démarrer les bases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4937760" cy="658368"/>
          </a:xfrm>
          <a:prstGeom prst="roundRect">
            <a:avLst/>
          </a:prstGeom>
          <a:solidFill>
            <a:srgbClr val="1C232A"/>
          </a:solidFill>
          <a:ln>
            <a:solidFill>
              <a:srgbClr val="1C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911095"/>
            <a:ext cx="4608576" cy="4023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E8F2EB"/>
                </a:solidFill>
                <a:latin typeface="Courier New"/>
              </a:rPr>
              <a:t>docker compose up -d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9232D"/>
                </a:solidFill>
                <a:latin typeface="Aptos"/>
              </a:rPr>
              <a:t>2 — Installer les clients Python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200400"/>
            <a:ext cx="4937760" cy="658368"/>
          </a:xfrm>
          <a:prstGeom prst="roundRect">
            <a:avLst/>
          </a:prstGeom>
          <a:solidFill>
            <a:srgbClr val="1C232A"/>
          </a:solidFill>
          <a:ln>
            <a:solidFill>
              <a:srgbClr val="1C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3328416"/>
            <a:ext cx="4608576" cy="4023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8F2EB"/>
                </a:solidFill>
                <a:latin typeface="Courier New"/>
              </a:rPr>
              <a:t>python -m pip install pymongo redis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6052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9232D"/>
                </a:solidFill>
                <a:latin typeface="Aptos"/>
              </a:rPr>
              <a:t>3 — Exécuter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617720"/>
            <a:ext cx="4937760" cy="658368"/>
          </a:xfrm>
          <a:prstGeom prst="roundRect">
            <a:avLst/>
          </a:prstGeom>
          <a:solidFill>
            <a:srgbClr val="1C232A"/>
          </a:solidFill>
          <a:ln>
            <a:solidFill>
              <a:srgbClr val="1C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4745736"/>
            <a:ext cx="4608576" cy="4023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>
                <a:solidFill>
                  <a:srgbClr val="E8F2EB"/>
                </a:solidFill>
                <a:latin typeface="Courier New"/>
              </a:rPr>
              <a:t>python benchmark_mongodb_redis.py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417320"/>
            <a:ext cx="50749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563624"/>
            <a:ext cx="470915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170AA"/>
                </a:solidFill>
                <a:latin typeface="Aptos"/>
              </a:rPr>
              <a:t>Ce que tu compares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984248"/>
            <a:ext cx="4709159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232D"/>
                </a:solidFill>
                <a:latin typeface="Aptos"/>
              </a:rPr>
              <a:t>débit (opérations/s)
p50 = latence médiane
p95 = 95 % des requêtes plus rapides que cette valeur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3657600"/>
            <a:ext cx="50749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803904"/>
            <a:ext cx="470915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08B34"/>
                </a:solidFill>
                <a:latin typeface="Aptos"/>
              </a:rPr>
              <a:t>Comment présenter les résultats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4224528"/>
            <a:ext cx="4709159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232D"/>
                </a:solidFill>
                <a:latin typeface="Aptos"/>
              </a:rPr>
              <a:t>« Dans notre configuration et pour ce workload, nous avons mesuré X… »
Évite : « MongoDB est toujours plus rapide. 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C6874"/>
                </a:solidFill>
                <a:latin typeface="Aptos"/>
              </a:rPr>
              <a:t>MongoDB — support d'exposé  •  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